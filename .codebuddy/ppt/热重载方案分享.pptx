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20344F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417320"/>
            <a:ext cx="128016" cy="2011680"/>
          </a:xfrm>
          <a:prstGeom prst="rect">
            <a:avLst/>
          </a:prstGeom>
          <a:solidFill>
            <a:srgbClr val="0E9AA8"/>
          </a:solidFill>
          <a:ln/>
        </p:spPr>
      </p:sp>
      <p:sp>
        <p:nvSpPr>
          <p:cNvPr id="5" name="Text 3"/>
          <p:cNvSpPr/>
          <p:nvPr/>
        </p:nvSpPr>
        <p:spPr>
          <a:xfrm>
            <a:off x="114300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E9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HYBRIDCLR HOT RELOAD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5568" y="16459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程序集热重载：Il2CppClass / MethodInfo 指针复用方案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43000" y="26974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FB3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探索历程 · 实现原理 · 踩坑记录 · 根因排查 · 经验总结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43000" y="57150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libil2cpp-hybridclr-reload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FB3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分支 dev-reload-2022  |  开发周期 2026.07 – 2026.08  |  目标平台 iOS / Android / Windows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233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E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前期尝试 1/3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探索一：AssemblyLoadContext —— 此路不通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54864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371600"/>
            <a:ext cx="64008" cy="3977640"/>
          </a:xfrm>
          <a:prstGeom prst="rect">
            <a:avLst/>
          </a:prstGeom>
          <a:solidFill>
            <a:srgbClr val="0E9AA8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517904"/>
            <a:ext cx="507492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7E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AssemblyLoadContext（ALC）是什么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.NET Core 3.0+ 引入的程序集隔离加载机制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 ALC 是独立的加载边界，同一程序集可多版本共存、互不干扰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collectible ALC 支持 Unload() 卸载，配合 GC 回收旧程序集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AssemblyDependencyResolver 自动解析依赖</a:t>
            </a:r>
            <a:endParaRPr lang="en-US" sz="150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典型场景：插件系统、动态热更新 —— 看起来正是我们要的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54864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371600"/>
            <a:ext cx="64008" cy="3977640"/>
          </a:xfrm>
          <a:prstGeom prst="rect">
            <a:avLst/>
          </a:prstGeom>
          <a:solidFill>
            <a:srgbClr val="E8873A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1517904"/>
            <a:ext cx="507492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8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为什么在 Unity / Il2Cpp 上走不通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ALC 属于 System.Runtime.Loader，是 .NET Core/5+ 运行时（CLR）的设施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Il2Cpp 是 AOT 编译的裸 C++ 运行时：无 JIT、无真正的程序集加载器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Il2CppDomain 的程序集注册全局唯一（s_Assemblies 按名查找，同名即同一个）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HybridCLR 解释器程序集也不走 ALC —— 元数据直接进 InterpreterImage</a:t>
            </a:r>
            <a:endParaRPr lang="en-US" sz="1500" dirty="0"/>
          </a:p>
          <a:p>
            <a:pPr marL="127000" indent="-127000">
              <a:buSzPct val="100000"/>
              <a:buChar char="•"/>
            </a:pPr>
            <a:r>
              <a:rPr lang="en-US" sz="1150" b="1" dirty="0">
                <a:solidFill>
                  <a:srgbClr val="E88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结论：ALC 这条路在 Il2Cpp 上根本不存在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5577840"/>
            <a:ext cx="11292840" cy="777240"/>
          </a:xfrm>
          <a:prstGeom prst="rect">
            <a:avLst/>
          </a:prstGeom>
          <a:solidFill>
            <a:srgbClr val="16233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5778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既然没有现成的隔离加载机制，那就自己实现「同名程序集二次加载」—— 下一站：直接反复加载 Assembly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233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E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前期尝试 2/3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探索二：让同一个 Assembly 加载第二遍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54864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371600"/>
            <a:ext cx="64008" cy="3977640"/>
          </a:xfrm>
          <a:prstGeom prst="rect">
            <a:avLst/>
          </a:prstGeom>
          <a:solidFill>
            <a:srgbClr val="E8873A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517904"/>
            <a:ext cx="507492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8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第一关：PlaceHolder 拒绝重载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现象：二次加载直接抛异常 —— "reloading placeholder assembly is not supported!"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根因：占位程序集（PlaceHolder）首次加载后 token != 0，这个标志位被当作「已加载」，重载路径直接拒绝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修复：token != 0 时不再抛异常，改走普通新建逻辑，创建全新 Il2CppAssembly / Il2CppImage</a:t>
            </a:r>
            <a:endParaRPr lang="en-US" sz="150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配套：UnregisterInterpreterAssembly 注销旧程序集 + ReplacePlaceHolderAssembly 让占位列表指向最新注册的同名程序集，支持反复重载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54864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371600"/>
            <a:ext cx="64008" cy="3977640"/>
          </a:xfrm>
          <a:prstGeom prst="rect">
            <a:avLst/>
          </a:prstGeom>
          <a:solidFill>
            <a:srgbClr val="0E9AA8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1517904"/>
            <a:ext cx="507492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7E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强行加载的结果：一半能跑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 C# 逻辑 OK：普通类、方法调用、新实例化都能正常执行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旧程序集有意不释放（存活对象仍可能引用旧类，泄漏换安全）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E88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但资源加载一碰就碎：prefab 上的 MonoBehaviour、ScriptableObject 引用全部 Missing</a:t>
            </a:r>
            <a:endParaRPr lang="en-US" sz="150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窗口打不开、资产读不出 —— 对游戏项目来说等于不可用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5577840"/>
            <a:ext cx="11292840" cy="777240"/>
          </a:xfrm>
          <a:prstGeom prst="rect">
            <a:avLst/>
          </a:prstGeom>
          <a:solidFill>
            <a:srgbClr val="16233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5778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Missing 的根源是什么？为什么 Unity 认不得「同一个名字的新类」？—— 追下去，找到了整个方案的地基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233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E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前期尝试 3/3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探索三：Missing 的根源 —— Unity 底层缓存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54864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371600"/>
            <a:ext cx="64008" cy="3977640"/>
          </a:xfrm>
          <a:prstGeom prst="rect">
            <a:avLst/>
          </a:prstGeom>
          <a:solidFill>
            <a:srgbClr val="E8873A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517904"/>
            <a:ext cx="507492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8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Missing 的真正原因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Unity 底层大量按「裸指针」缓存脚本类型：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MonoManager::m_ScriptImages 启动时按 image 指针注册各程序集</a:t>
            </a:r>
            <a:endParaRPr lang="en-US" sz="15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MonoScriptCache / SerializationCache 按 ~klass 指针缓存序列化指令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重载新建 image / 类 → 全是新指针 → Unity 旧引用全部失效 → Missing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16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这正解释了 PlaceHolder Assembly 的设计初衷：启动时占位注册，让 Unity 底层缓存从一开始就指向稳定的 image / 类指针</a:t>
            </a:r>
            <a:endParaRPr lang="en-US" sz="150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这些缓存只在 domain unload 时清空，热重载不触发，也没有公开 API 可清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54864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371600"/>
            <a:ext cx="64008" cy="3977640"/>
          </a:xfrm>
          <a:prstGeom prst="rect">
            <a:avLst/>
          </a:prstGeom>
          <a:solidFill>
            <a:srgbClr val="20344F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1517904"/>
            <a:ext cx="507492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路线收敛：绕不开，就穿过去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清空 Unity 缓存：做不到（无 API、不触发 domain unload）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 Unity 认识新指针：等于改 Unity 引擎，不可行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0B7E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唯一出路：保持指针不变 —— 重载时复用旧 Il2CppClass / MethodInfo / image 指针，原地更新其内容指向新元数据</a:t>
            </a:r>
            <a:endParaRPr lang="en-US" sz="150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「原地复用」方案由此确立，成为后续一个多月攻坚的主线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5577840"/>
            <a:ext cx="11292840" cy="777240"/>
          </a:xfrm>
          <a:prstGeom prst="rect">
            <a:avLst/>
          </a:prstGeom>
          <a:solidFill>
            <a:srgbClr val="16233B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55778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三条路试下来：ALC 不存在、反复加载会 Missing、缓存清不掉 —— 全部指向同一个答案：指针必须稳定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233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E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为什么必须「复用指针」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热重载 = 不重启进程、不做 domain reload，原地换装程序集。难点不在加载新 DLL，而在旧指针早已「逃逸」到运行时各处。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54864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874520"/>
            <a:ext cx="64008" cy="1572768"/>
          </a:xfrm>
          <a:prstGeom prst="rect">
            <a:avLst/>
          </a:prstGeom>
          <a:solidFill>
            <a:srgbClr val="0E9AA8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2002536"/>
            <a:ext cx="51206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7E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对象头 obj-&gt;klass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每个存活实例的类型 / vtable / 字段与 GC 布局全由它决定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GC、AOT、解释器按编译期偏移直接解引用，无法拦截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09360" y="1874520"/>
            <a:ext cx="54864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1874520"/>
            <a:ext cx="64008" cy="1572768"/>
          </a:xfrm>
          <a:prstGeom prst="rect">
            <a:avLst/>
          </a:prstGeom>
          <a:solidFill>
            <a:srgbClr val="0E9AA8"/>
          </a:solidFill>
          <a:ln/>
        </p:spPr>
      </p:sp>
      <p:sp>
        <p:nvSpPr>
          <p:cNvPr id="12" name="Text 10"/>
          <p:cNvSpPr/>
          <p:nvPr/>
        </p:nvSpPr>
        <p:spPr>
          <a:xfrm>
            <a:off x="6510528" y="2002536"/>
            <a:ext cx="51206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7E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Unity 原生缓存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MonoScriptCache / SerializationCache 按 ~klass 指针键控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仅在 domain unload 时清空 —— 热重载永不触发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3721608"/>
            <a:ext cx="54864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3721608"/>
            <a:ext cx="64008" cy="1572768"/>
          </a:xfrm>
          <a:prstGeom prst="rect">
            <a:avLst/>
          </a:prstGeom>
          <a:solidFill>
            <a:srgbClr val="0E9AA8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" y="3849624"/>
            <a:ext cx="51206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7E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托管反射句柄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RuntimeType.value / RuntimeMethodInfo.mhandle 存裸指针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Type == Type 是引用相等，指针变了比较即失败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309360" y="3721608"/>
            <a:ext cx="54864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3721608"/>
            <a:ext cx="64008" cy="1572768"/>
          </a:xfrm>
          <a:prstGeom prst="rect">
            <a:avLst/>
          </a:prstGeom>
          <a:solidFill>
            <a:srgbClr val="0E9AA8"/>
          </a:solidFill>
          <a:ln/>
        </p:spPr>
      </p:sp>
      <p:sp>
        <p:nvSpPr>
          <p:cNvPr id="18" name="Text 16"/>
          <p:cNvSpPr/>
          <p:nvPr/>
        </p:nvSpPr>
        <p:spPr>
          <a:xfrm>
            <a:off x="6510528" y="3849624"/>
            <a:ext cx="51206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7E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泛型实例缓存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s_GenericClassSet 按 typeHandle 裸指针做 hash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AOT class_inst-&gt;type_argv 直接存 &amp;klass-&gt;byval_arg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02920" y="5806440"/>
            <a:ext cx="11292840" cy="566928"/>
          </a:xfrm>
          <a:prstGeom prst="rect">
            <a:avLst/>
          </a:prstGeom>
          <a:solidFill>
            <a:srgbClr val="16233B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5806440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结论：同一逻辑类必须保持同一指针 ——「原地复用、原地更新」是唯一自洽的方案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233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E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架构总览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核心方案：采集 → 三阶段还原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17830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463040"/>
            <a:ext cx="1783080" cy="457200"/>
          </a:xfrm>
          <a:prstGeom prst="rect">
            <a:avLst/>
          </a:prstGeom>
          <a:solidFill>
            <a:srgbClr val="0B7E8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4630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采集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029968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CollectReusableObjects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 image 建两张表：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fullName→旧类 / 签名→旧方法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267712" y="2436876"/>
            <a:ext cx="164592" cy="201168"/>
          </a:xfrm>
          <a:prstGeom prst="rightArrow">
            <a:avLst/>
          </a:prstGeom>
          <a:solidFill>
            <a:srgbClr val="0E9AA8"/>
          </a:solidFill>
          <a:ln/>
        </p:spPr>
      </p:sp>
      <p:sp>
        <p:nvSpPr>
          <p:cNvPr id="11" name="Shape 9"/>
          <p:cNvSpPr/>
          <p:nvPr/>
        </p:nvSpPr>
        <p:spPr>
          <a:xfrm>
            <a:off x="2404872" y="1463040"/>
            <a:ext cx="17830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04872" y="1463040"/>
            <a:ext cx="1783080" cy="457200"/>
          </a:xfrm>
          <a:prstGeom prst="rect">
            <a:avLst/>
          </a:prstGeom>
          <a:solidFill>
            <a:srgbClr val="0B7E89"/>
          </a:solidFill>
          <a:ln/>
        </p:spPr>
      </p:sp>
      <p:sp>
        <p:nvSpPr>
          <p:cNvPr id="13" name="Text 11"/>
          <p:cNvSpPr/>
          <p:nvPr/>
        </p:nvSpPr>
        <p:spPr>
          <a:xfrm>
            <a:off x="2404872" y="14630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加载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96312" y="2029968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InitRuntimeMetadatas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新元数据照常加载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（复用类不进 _classList）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169664" y="2436876"/>
            <a:ext cx="164592" cy="201168"/>
          </a:xfrm>
          <a:prstGeom prst="rightArrow">
            <a:avLst/>
          </a:prstGeom>
          <a:solidFill>
            <a:srgbClr val="0E9AA8"/>
          </a:solidFill>
          <a:ln/>
        </p:spPr>
      </p:sp>
      <p:sp>
        <p:nvSpPr>
          <p:cNvPr id="16" name="Shape 14"/>
          <p:cNvSpPr/>
          <p:nvPr/>
        </p:nvSpPr>
        <p:spPr>
          <a:xfrm>
            <a:off x="4306824" y="1463040"/>
            <a:ext cx="17830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06824" y="1463040"/>
            <a:ext cx="1783080" cy="457200"/>
          </a:xfrm>
          <a:prstGeom prst="rect">
            <a:avLst/>
          </a:prstGeom>
          <a:solidFill>
            <a:srgbClr val="20344F"/>
          </a:solidFill>
          <a:ln/>
        </p:spPr>
      </p:sp>
      <p:sp>
        <p:nvSpPr>
          <p:cNvPr id="18" name="Text 16"/>
          <p:cNvSpPr/>
          <p:nvPr/>
        </p:nvSpPr>
        <p:spPr>
          <a:xfrm>
            <a:off x="4306824" y="14630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Pass 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398264" y="2029968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更新指针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 / typeHandle 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byval_arg / counts / parent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71616" y="2436876"/>
            <a:ext cx="164592" cy="201168"/>
          </a:xfrm>
          <a:prstGeom prst="rightArrow">
            <a:avLst/>
          </a:prstGeom>
          <a:solidFill>
            <a:srgbClr val="0E9AA8"/>
          </a:solidFill>
          <a:ln/>
        </p:spPr>
      </p:sp>
      <p:sp>
        <p:nvSpPr>
          <p:cNvPr id="21" name="Shape 19"/>
          <p:cNvSpPr/>
          <p:nvPr/>
        </p:nvSpPr>
        <p:spPr>
          <a:xfrm>
            <a:off x="6208776" y="1463040"/>
            <a:ext cx="17830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08776" y="1463040"/>
            <a:ext cx="1783080" cy="457200"/>
          </a:xfrm>
          <a:prstGeom prst="rect">
            <a:avLst/>
          </a:prstGeom>
          <a:solidFill>
            <a:srgbClr val="20344F"/>
          </a:solidFill>
          <a:ln/>
        </p:spPr>
      </p:sp>
      <p:sp>
        <p:nvSpPr>
          <p:cNvPr id="23" name="Text 21"/>
          <p:cNvSpPr/>
          <p:nvPr/>
        </p:nvSpPr>
        <p:spPr>
          <a:xfrm>
            <a:off x="6208776" y="14630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Rehash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00216" y="2029968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三个泛型缓存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先归一化陈旧指针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再重算 hash 重插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973568" y="2436876"/>
            <a:ext cx="164592" cy="201168"/>
          </a:xfrm>
          <a:prstGeom prst="rightArrow">
            <a:avLst/>
          </a:prstGeom>
          <a:solidFill>
            <a:srgbClr val="0E9AA8"/>
          </a:solidFill>
          <a:ln/>
        </p:spPr>
      </p:sp>
      <p:sp>
        <p:nvSpPr>
          <p:cNvPr id="26" name="Shape 24"/>
          <p:cNvSpPr/>
          <p:nvPr/>
        </p:nvSpPr>
        <p:spPr>
          <a:xfrm>
            <a:off x="8110728" y="1463040"/>
            <a:ext cx="17830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10728" y="1463040"/>
            <a:ext cx="1783080" cy="457200"/>
          </a:xfrm>
          <a:prstGeom prst="rect">
            <a:avLst/>
          </a:prstGeom>
          <a:solidFill>
            <a:srgbClr val="20344F"/>
          </a:solidFill>
          <a:ln/>
        </p:spPr>
      </p:sp>
      <p:sp>
        <p:nvSpPr>
          <p:cNvPr id="28" name="Text 26"/>
          <p:cNvSpPr/>
          <p:nvPr/>
        </p:nvSpPr>
        <p:spPr>
          <a:xfrm>
            <a:off x="8110728" y="14630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Pass 2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02168" y="2029968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重置懒加载字段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methods/fields/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typeHierarchy/init 标志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875520" y="2436876"/>
            <a:ext cx="164592" cy="201168"/>
          </a:xfrm>
          <a:prstGeom prst="rightArrow">
            <a:avLst/>
          </a:prstGeom>
          <a:solidFill>
            <a:srgbClr val="0E9AA8"/>
          </a:solidFill>
          <a:ln/>
        </p:spPr>
      </p:sp>
      <p:sp>
        <p:nvSpPr>
          <p:cNvPr id="31" name="Shape 29"/>
          <p:cNvSpPr/>
          <p:nvPr/>
        </p:nvSpPr>
        <p:spPr>
          <a:xfrm>
            <a:off x="10012680" y="1463040"/>
            <a:ext cx="178308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10012680" y="1463040"/>
            <a:ext cx="1783080" cy="457200"/>
          </a:xfrm>
          <a:prstGeom prst="rect">
            <a:avLst/>
          </a:prstGeom>
          <a:solidFill>
            <a:srgbClr val="20344F"/>
          </a:solidFill>
          <a:ln/>
        </p:spPr>
      </p:sp>
      <p:sp>
        <p:nvSpPr>
          <p:cNvPr id="33" name="Text 31"/>
          <p:cNvSpPr/>
          <p:nvPr/>
        </p:nvSpPr>
        <p:spPr>
          <a:xfrm>
            <a:off x="10012680" y="146304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Pass 3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104120" y="2029968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Class::Init 重建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泛型实例三 Pass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与非泛型交错执行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02920" y="397764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02920" y="3977640"/>
            <a:ext cx="64008" cy="2286000"/>
          </a:xfrm>
          <a:prstGeom prst="rect">
            <a:avLst/>
          </a:prstGeom>
          <a:solidFill>
            <a:srgbClr val="0E9AA8"/>
          </a:solidFill>
          <a:ln/>
        </p:spPr>
      </p:sp>
      <p:sp>
        <p:nvSpPr>
          <p:cNvPr id="37" name="Text 35"/>
          <p:cNvSpPr/>
          <p:nvPr/>
        </p:nvSpPr>
        <p:spPr>
          <a:xfrm>
            <a:off x="704088" y="4105656"/>
            <a:ext cx="512064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方法复用（MethodInfo 同指针）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签名键：ClassFullName:Method(Params)-&gt;Return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TypeToSigString 直接读 TypeDef，不触发类加载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命中则原地更新 token / methodPointer / parameters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interpData 置空，强制重新 Transform 方法体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309360" y="397764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309360" y="3977640"/>
            <a:ext cx="64008" cy="2286000"/>
          </a:xfrm>
          <a:prstGeom prst="rect">
            <a:avLst/>
          </a:prstGeom>
          <a:solidFill>
            <a:srgbClr val="E8873A"/>
          </a:solidFill>
          <a:ln/>
        </p:spPr>
      </p:sp>
      <p:sp>
        <p:nvSpPr>
          <p:cNvPr id="40" name="Text 38"/>
          <p:cNvSpPr/>
          <p:nvPr/>
        </p:nvSpPr>
        <p:spPr>
          <a:xfrm>
            <a:off x="6510528" y="4105656"/>
            <a:ext cx="5120640" cy="2029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泛型实例复用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RestoreCachedGenericClasses 遍历 s_GenericClassSet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AOT 泛型定义的实例：只重置字段，不搬 image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重载后启用 argv 归一化 + GetClass 一次性验证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 = 原地指针修补 VAR 参数，不重置任何数组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233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E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数据结构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配套改造：vtable 混合布局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2344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复用要求新旧类内存布局兼容。原变长 struct 无法保证，改为「固定布局 + 超阈值变长布局」：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3611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938528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7E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256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IL2CPP_MAX_VTABLE_SLOT_COUNT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3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内联固定槽数（结构体末尾）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828800"/>
            <a:ext cx="3611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89120" y="1938528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7E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224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572000" y="27432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阈值：vtable_count &gt; 224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3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走变长布局，不再截断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75320" y="1828800"/>
            <a:ext cx="36118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75320" y="1938528"/>
            <a:ext cx="3611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7E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+32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8458200" y="274320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PRESERVED 预留槽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3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覆盖数组 interfaceOffset 越界槽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840480"/>
            <a:ext cx="1129284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3840480"/>
            <a:ext cx="64008" cy="2423160"/>
          </a:xfrm>
          <a:prstGeom prst="rect">
            <a:avLst/>
          </a:prstGeom>
          <a:solidFill>
            <a:srgbClr val="20344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86784"/>
            <a:ext cx="108813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设计要点</a:t>
            </a:r>
            <a:endParaRPr lang="en-US" sz="15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 vtable_allocated_count 字段记录实际分配槽数，所有读写按它做边界</a:t>
            </a:r>
            <a:endParaRPr lang="en-US" sz="15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复用时 vtable 兼容检查：新 vtable_count ≤ 已分配槽数才允许复用；超出则 MSVC 试 _expand 原地扩容，其他平台放弃复用</a:t>
            </a:r>
            <a:endParaRPr lang="en-US" sz="15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变长布局写控制台 + vtable_overflow.log（UTC 时间戳，std::gmtime 跨平台单一路径）</a:t>
            </a:r>
            <a:endParaRPr lang="en-US" sz="1500" dirty="0"/>
          </a:p>
          <a:p>
            <a:pPr marL="127000" indent="-127000">
              <a:buSzPct val="100000"/>
              <a:buChar char="•"/>
            </a:pPr>
            <a:r>
              <a:rPr lang="en-US" sz="12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跨平台约束：禁止仅 Windows 的功能分支，仅允许 #ifdef _MSC_VER 抑制告警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233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E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历程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踩坑时间线：一个月的攻坚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133856" y="1554480"/>
            <a:ext cx="0" cy="4846320"/>
          </a:xfrm>
          <a:prstGeom prst="line">
            <a:avLst/>
          </a:prstGeom>
          <a:noFill/>
          <a:ln w="25400">
            <a:solidFill>
              <a:srgbClr val="DCE3E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1508760"/>
            <a:ext cx="182880" cy="182880"/>
          </a:xfrm>
          <a:prstGeom prst="ellipse">
            <a:avLst/>
          </a:prstGeom>
          <a:solidFill>
            <a:srgbClr val="0E9AA8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138988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7E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07-22 前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880360" y="13898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方案探索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806440" y="138988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ALC 在 Il2Cpp 上不存在；反复加载遇 PlaceHolder 拒绝与 Missing —— 锁定指针复用路线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051560" y="2221992"/>
            <a:ext cx="182880" cy="182880"/>
          </a:xfrm>
          <a:prstGeom prst="ellipse">
            <a:avLst/>
          </a:prstGeom>
          <a:solidFill>
            <a:srgbClr val="0E9AA8"/>
          </a:solidFill>
          <a:ln/>
        </p:spPr>
      </p:sp>
      <p:sp>
        <p:nvSpPr>
          <p:cNvPr id="12" name="Text 10"/>
          <p:cNvSpPr/>
          <p:nvPr/>
        </p:nvSpPr>
        <p:spPr>
          <a:xfrm>
            <a:off x="1417320" y="21031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7E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07-23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880360" y="2103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复用方案落地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806440" y="210312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 / 三 Pass 还原 / 方法签名匹配；当天即修 9 个实现 bug（编码索引、parent 置空、忘重新 Init…）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51560" y="2935224"/>
            <a:ext cx="182880" cy="182880"/>
          </a:xfrm>
          <a:prstGeom prst="ellipse">
            <a:avLst/>
          </a:prstGeom>
          <a:solidFill>
            <a:srgbClr val="0E9AA8"/>
          </a:solidFill>
          <a:ln/>
        </p:spPr>
      </p:sp>
      <p:sp>
        <p:nvSpPr>
          <p:cNvPr id="16" name="Text 14"/>
          <p:cNvSpPr/>
          <p:nvPr/>
        </p:nvSpPr>
        <p:spPr>
          <a:xfrm>
            <a:off x="1417320" y="2816352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7E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07-27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2880360" y="28163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/ image 错配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06440" y="2816352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BadImageFormatException、MissingMethodException —— 旧 MethodInfo 的 token 属于旧 image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51560" y="3648456"/>
            <a:ext cx="182880" cy="182880"/>
          </a:xfrm>
          <a:prstGeom prst="ellipse">
            <a:avLst/>
          </a:prstGeom>
          <a:solidFill>
            <a:srgbClr val="0E9AA8"/>
          </a:solidFill>
          <a:ln/>
        </p:spPr>
      </p:sp>
      <p:sp>
        <p:nvSpPr>
          <p:cNvPr id="20" name="Text 18"/>
          <p:cNvSpPr/>
          <p:nvPr/>
        </p:nvSpPr>
        <p:spPr>
          <a:xfrm>
            <a:off x="1417320" y="3529584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7E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07-28 ~ 30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880360" y="352958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泛型地狱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06440" y="3529584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 误设 newImage、typeHierarchyDepth 未重置、三缓存 hash 失效 —— 引入 rehash + 指针归一化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51560" y="4361688"/>
            <a:ext cx="182880" cy="182880"/>
          </a:xfrm>
          <a:prstGeom prst="ellipse">
            <a:avLst/>
          </a:prstGeom>
          <a:solidFill>
            <a:srgbClr val="0E9AA8"/>
          </a:solidFill>
          <a:ln/>
        </p:spPr>
      </p:sp>
      <p:sp>
        <p:nvSpPr>
          <p:cNvPr id="24" name="Text 22"/>
          <p:cNvSpPr/>
          <p:nvPr/>
        </p:nvSpPr>
        <p:spPr>
          <a:xfrm>
            <a:off x="1417320" y="4242816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7E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08-04 ~ 07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880360" y="424281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Delegate 绑定失败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806440" y="4242816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"method arguments are incompatible" —— RuntimeType 身份分裂，原地指针修补方案定型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1051560" y="5074920"/>
            <a:ext cx="182880" cy="182880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28" name="Text 26"/>
          <p:cNvSpPr/>
          <p:nvPr/>
        </p:nvSpPr>
        <p:spPr>
          <a:xfrm>
            <a:off x="1417320" y="4956048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8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08-10 ~ 21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2880360" y="49560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序列化 NRE（最大 BOSS）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806440" y="495604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重载后首开窗口 [SerializeField] 全 null；两周排查，实锤 Unity MonoManager image 缓存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051560" y="5788152"/>
            <a:ext cx="182880" cy="182880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32" name="Text 30"/>
          <p:cNvSpPr/>
          <p:nvPr/>
        </p:nvSpPr>
        <p:spPr>
          <a:xfrm>
            <a:off x="1417320" y="566928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8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08-24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2880360" y="5669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收官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806440" y="5669280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 指针复用 + token 延迟翻转 —— 不崩溃、NRE 消失，全链路验证通过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233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E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坑 1 / 07-27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 MethodInfo 的 token 属于旧 image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698480" y="384048"/>
            <a:ext cx="868680" cy="868680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7" name="Text 5"/>
          <p:cNvSpPr/>
          <p:nvPr/>
        </p:nvSpPr>
        <p:spPr>
          <a:xfrm>
            <a:off x="10698480" y="38404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坑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11292840" cy="11978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371600"/>
            <a:ext cx="64008" cy="1197864"/>
          </a:xfrm>
          <a:prstGeom prst="rect">
            <a:avLst/>
          </a:prstGeom>
          <a:solidFill>
            <a:srgbClr val="E8873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463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现象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83080" y="1481328"/>
            <a:ext cx="97840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重载后调用旧 delegate / 旧 vtable 方法：BadImageFormatException（方法体解析错乱）</a:t>
            </a:r>
            <a:endParaRPr lang="en-US" sz="12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GetMethodInfoFromMethodDef 指针比较失败：MissingMethodException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734056"/>
            <a:ext cx="11292840" cy="11978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734056"/>
            <a:ext cx="64008" cy="1197864"/>
          </a:xfrm>
          <a:prstGeom prst="rect">
            <a:avLst/>
          </a:prstGeom>
          <a:solidFill>
            <a:srgbClr val="20344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82549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4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83080" y="2843784"/>
            <a:ext cx="97840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复用类的 klass-&gt;image 已指向新 image，但旧 MethodInfo 的 token / methodMetadataHandle 仍是旧 image 的</a:t>
            </a:r>
            <a:endParaRPr lang="en-US" sz="12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GetMethodBody 在「新 image + 旧 token」上查找 → row index 错位 → 读到错误方法体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4096512"/>
            <a:ext cx="11292840" cy="1545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4096512"/>
            <a:ext cx="64008" cy="1545336"/>
          </a:xfrm>
          <a:prstGeom prst="rect">
            <a:avLst/>
          </a:prstGeom>
          <a:solidFill>
            <a:srgbClr val="0B7E89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1879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7E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783080" y="4206240"/>
            <a:ext cx="9784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按方法签名匹配复用旧 MethodInfo，原地更新 token / handle / methodPointer 指向新 image</a:t>
            </a:r>
            <a:endParaRPr lang="en-US" sz="12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泛型实例：先 Inflate 取新数据再拷贝字段（不能从 methodDefinition 直接拷未 inflate 的值）</a:t>
            </a:r>
            <a:endParaRPr lang="en-US" sz="12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interpData 置空强制重新 Transform；s_GenericMethodMap 陈旧 token → ClearStatics 清除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233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E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坑 2 / 07-28 ~ 30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泛型缓存：typeHandle 变了，hash 全废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698480" y="384048"/>
            <a:ext cx="868680" cy="868680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7" name="Text 5"/>
          <p:cNvSpPr/>
          <p:nvPr/>
        </p:nvSpPr>
        <p:spPr>
          <a:xfrm>
            <a:off x="10698480" y="38404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坑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11292840" cy="11978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371600"/>
            <a:ext cx="64008" cy="1197864"/>
          </a:xfrm>
          <a:prstGeom prst="rect">
            <a:avLst/>
          </a:prstGeom>
          <a:solidFill>
            <a:srgbClr val="E8873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463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现象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83080" y="1481328"/>
            <a:ext cx="97840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InvalidCastException：EnumEqualityComparer&lt;T&gt; → EqualityComparer&lt;T&gt; 转换失败</a:t>
            </a:r>
            <a:endParaRPr lang="en-US" sz="12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GetGenericClass 重复创建实例、ParentMismatch；Expression1&lt;T&gt; → Expression&lt;T&gt; 失败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734056"/>
            <a:ext cx="11292840" cy="1892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734056"/>
            <a:ext cx="64008" cy="1892808"/>
          </a:xfrm>
          <a:prstGeom prst="rect">
            <a:avLst/>
          </a:prstGeom>
          <a:solidFill>
            <a:srgbClr val="20344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82549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4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83080" y="2843784"/>
            <a:ext cx="978408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Il2CppTypeHash 对 CLASS/VALUETYPE 按 data.typeHandle 裸指针做 hash</a:t>
            </a:r>
            <a:endParaRPr lang="en-US" sz="12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Pass 1 更新 typeHandle 后，s_GenericInstSet / 两个 s_GenericClassSet 旧条目 hash 全部失效</a:t>
            </a:r>
            <a:endParaRPr lang="en-US" sz="12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AOT 创建的游离 class_inst 不在 s_GenericInstSet，rehash 漏网 → type_argv 半陈旧</a:t>
            </a:r>
            <a:endParaRPr lang="en-US" sz="12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klass-&gt;image 被误设为当前重载 DLL 的 image（泛型定义在别的 DLL）→ GetMethodBody 越界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4791456"/>
            <a:ext cx="11292840" cy="1892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4791456"/>
            <a:ext cx="64008" cy="1892808"/>
          </a:xfrm>
          <a:prstGeom prst="rect">
            <a:avLst/>
          </a:prstGeom>
          <a:solidFill>
            <a:srgbClr val="0B7E89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88289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7E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783080" y="4901184"/>
            <a:ext cx="978408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Pass 1 后 rehash 三个缓存：重插前先归一化 type_argv / gclass-&gt;type 陈旧指针，再重算 hash</a:t>
            </a:r>
            <a:endParaRPr lang="en-US" sz="12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klass-&gt;image 只在泛型定义来自解释器时设为 defKlass-&gt;image，AOT 定义实例不搬 image</a:t>
            </a:r>
            <a:endParaRPr lang="en-US" sz="12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typeHierarchyDepth 必须随 typeHierarchy 一起重置；parent 不能重置（InitLocked 不重建）</a:t>
            </a:r>
            <a:endParaRPr lang="en-US" sz="12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泛型还原拆三 Pass 与非泛型交错执行，保证 cctor 访问时继承树已重建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233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E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坑 3 / 08-04 ~ 07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Delegate.CreateDelegate：method arguments are incompatible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698480" y="384048"/>
            <a:ext cx="868680" cy="868680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7" name="Text 5"/>
          <p:cNvSpPr/>
          <p:nvPr/>
        </p:nvSpPr>
        <p:spPr>
          <a:xfrm>
            <a:off x="10698480" y="38404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坑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11292840" cy="11978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371600"/>
            <a:ext cx="64008" cy="1197864"/>
          </a:xfrm>
          <a:prstGeom prst="rect">
            <a:avLst/>
          </a:prstGeom>
          <a:solidFill>
            <a:srgbClr val="E8873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463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现象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83080" y="1481328"/>
            <a:ext cx="97840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Action&lt;BackpackTabType, BackpackSubTabType&gt; 绑定失败，异常来自托管 mscorlib 预检</a:t>
            </a:r>
            <a:endParaRPr lang="en-US" sz="12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枚举参数只走 Type == Type（RuntimeType 引用相等），不过任何 icall —— 排查盲区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734056"/>
            <a:ext cx="11292840" cy="154533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734056"/>
            <a:ext cx="64008" cy="1545336"/>
          </a:xfrm>
          <a:prstGeom prst="rect">
            <a:avLst/>
          </a:prstGeom>
          <a:solidFill>
            <a:srgbClr val="20344F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82549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0344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83080" y="2843784"/>
            <a:ext cx="97840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跨程序集泛型实例（Action`2&lt;程序集A类型, 程序集B类型&gt;）在两个 DLL 分批重载时只归一化了部分 type_argv</a:t>
            </a:r>
            <a:endParaRPr lang="en-US" sz="12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methods 以「半陈旧」参数重新 inflate；s_TypeMap 按键内容比较但叶子仍是 typeHandle 裸指针</a:t>
            </a:r>
            <a:endParaRPr lang="en-US" sz="12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同一逻辑类型出现两个 RuntimeType 实例 → 引用相等失败（身份分裂）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4443984"/>
            <a:ext cx="11292840" cy="1892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02920" y="4443984"/>
            <a:ext cx="64008" cy="1892808"/>
          </a:xfrm>
          <a:prstGeom prst="rect">
            <a:avLst/>
          </a:prstGeom>
          <a:solidFill>
            <a:srgbClr val="0B7E89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53542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7E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783080" y="4553712"/>
            <a:ext cx="9784080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重载后启用 argv 归一化：SetupMethods / SetupFields / CreateClass 入口就地归一化</a:t>
            </a:r>
            <a:endParaRPr lang="en-US" sz="12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GetClass 挂一次性验证：原地指针修补 VAR 参数（写回 type_argv[num]），不重置任何数组</a:t>
            </a:r>
            <a:endParaRPr lang="en-US" sz="12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重置方案会把异步执行链上正在使用的类字段清空，运行时崩溃</a:t>
            </a:r>
            <a:endParaRPr lang="en-US" sz="1200" dirty="0"/>
          </a:p>
          <a:p>
            <a:pPr marL="127000" indent="-127000"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配套清理：s_MethodMap 修复、s_ParametersMap / s_TypeMap 清空，消除重复 RuntimeType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233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E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坑 4 / 08-10 ~ 21 · 现象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最大 BOSS：MonoBehaviour 序列化字段 NRE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0698480" y="384048"/>
            <a:ext cx="868680" cy="868680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7" name="Text 5"/>
          <p:cNvSpPr/>
          <p:nvPr/>
        </p:nvSpPr>
        <p:spPr>
          <a:xfrm>
            <a:off x="10698480" y="38404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坑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54864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371600"/>
            <a:ext cx="64008" cy="2834640"/>
          </a:xfrm>
          <a:prstGeom prst="rect">
            <a:avLst/>
          </a:prstGeom>
          <a:solidFill>
            <a:srgbClr val="E8873A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517904"/>
            <a:ext cx="5074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8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现象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重载后首次打开的窗口 NRE：bindingSet.Bind(x).For(...) 中 x 为 null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GetAttrib 返回 null —— [SerializeField] s_currVariable 在内存里真为 0</a:t>
            </a:r>
            <a:endParaRPr lang="en-US" sz="15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运行时字段有值，序列化字段全 null = 反序列化根本没写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309360" y="1371600"/>
            <a:ext cx="54864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09360" y="1371600"/>
            <a:ext cx="64008" cy="2834640"/>
          </a:xfrm>
          <a:prstGeom prst="rect">
            <a:avLst/>
          </a:prstGeom>
          <a:solidFill>
            <a:srgbClr val="20344F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1517904"/>
            <a:ext cx="5074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6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A/B 实验（用户）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A：重载前进过界面（类型预热过）→ 重载后正常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 B：重载前没进过 → 重载后首次进入必 NRE</a:t>
            </a:r>
            <a:endParaRPr lang="en-US" sz="1500" dirty="0"/>
          </a:p>
          <a:p>
            <a:pPr marL="127000" indent="-127000">
              <a:buSzPct val="100000"/>
              <a:buChar char="•"/>
            </a:pPr>
            <a:r>
              <a:rPr lang="en-US" sz="120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JsonUtility.ToJson 预热（强制构建序列化缓存）可绕过 → 指向 Unity 序列化缓存机制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" y="4480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两周排除法 —— 全部被证伪：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02920" y="4937760"/>
            <a:ext cx="2688336" cy="512064"/>
          </a:xfrm>
          <a:prstGeom prst="rect">
            <a:avLst/>
          </a:prstGeom>
          <a:solidFill>
            <a:srgbClr val="EDF1F6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" y="4937760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8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</a:t>
            </a:r>
            <a:pPr indent="0" marL="0">
              <a:buNone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vtable 错乱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374136" y="4937760"/>
            <a:ext cx="2688336" cy="512064"/>
          </a:xfrm>
          <a:prstGeom prst="rect">
            <a:avLst/>
          </a:prstGeom>
          <a:solidFill>
            <a:srgbClr val="EDF1F6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83864" y="4937760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8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</a:t>
            </a:r>
            <a:pPr indent="0" marL="0">
              <a:buNone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方法体错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45352" y="4937760"/>
            <a:ext cx="2688336" cy="512064"/>
          </a:xfrm>
          <a:prstGeom prst="rect">
            <a:avLst/>
          </a:prstGeom>
          <a:solidFill>
            <a:srgbClr val="EDF1F6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4937760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8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</a:t>
            </a:r>
            <a:pPr indent="0" marL="0">
              <a:buNone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字段布局错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9116568" y="4937760"/>
            <a:ext cx="2688336" cy="512064"/>
          </a:xfrm>
          <a:prstGeom prst="rect">
            <a:avLst/>
          </a:prstGeom>
          <a:solidFill>
            <a:srgbClr val="EDF1F6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26296" y="4937760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8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</a:t>
            </a:r>
            <a:pPr indent="0" marL="0">
              <a:buNone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字段类型陈旧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" y="5596128"/>
            <a:ext cx="2688336" cy="512064"/>
          </a:xfrm>
          <a:prstGeom prst="rect">
            <a:avLst/>
          </a:prstGeom>
          <a:solidFill>
            <a:srgbClr val="EDF1F6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" y="5596128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8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</a:t>
            </a:r>
            <a:pPr indent="0" marL="0">
              <a:buNone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[SerializeField] 属性丢失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374136" y="5596128"/>
            <a:ext cx="2688336" cy="512064"/>
          </a:xfrm>
          <a:prstGeom prst="rect">
            <a:avLst/>
          </a:prstGeom>
          <a:solidFill>
            <a:srgbClr val="EDF1F6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83864" y="5596128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8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</a:t>
            </a:r>
            <a:pPr indent="0" marL="0">
              <a:buNone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坏窗口期建空缓存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45352" y="5596128"/>
            <a:ext cx="2688336" cy="512064"/>
          </a:xfrm>
          <a:prstGeom prst="rect">
            <a:avLst/>
          </a:prstGeom>
          <a:solidFill>
            <a:srgbClr val="EDF1F6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5596128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8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</a:t>
            </a:r>
            <a:pPr indent="0" marL="0">
              <a:buNone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重复类 / 身份分裂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116568" y="5596128"/>
            <a:ext cx="2688336" cy="512064"/>
          </a:xfrm>
          <a:prstGeom prst="rect">
            <a:avLst/>
          </a:prstGeom>
          <a:solidFill>
            <a:srgbClr val="EDF1F6"/>
          </a:solidFill>
          <a:ln w="12700">
            <a:solidFill>
              <a:srgbClr val="DCE3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226296" y="5596128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8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</a:t>
            </a:r>
            <a:pPr indent="0" marL="0">
              <a:buNone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ScriptMissing + Backup 不回填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233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E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坑 4 / 诊断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两周排查靠什么：诊断设施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4864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417320"/>
            <a:ext cx="64008" cy="1572768"/>
          </a:xfrm>
          <a:prstGeom prst="rect">
            <a:avLst/>
          </a:prstGeom>
          <a:solidFill>
            <a:srgbClr val="0E9AA8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545336"/>
            <a:ext cx="51206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7E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ReloadDiagLog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header-only，文件 + Unity 日志双写，UTC 时间戳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重载后才启用 + thread_local 重入保护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1417320"/>
            <a:ext cx="54864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417320"/>
            <a:ext cx="64008" cy="1572768"/>
          </a:xfrm>
          <a:prstGeom prst="rect">
            <a:avLst/>
          </a:prstGeom>
          <a:solidFill>
            <a:srgbClr val="0E9AA8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1545336"/>
            <a:ext cx="51206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7E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NRE 定位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解释器 catch 块打印 类::方法 ipOffset token image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沿异步链传播时每帧一行，首行即抛出点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3264408"/>
            <a:ext cx="54864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3264408"/>
            <a:ext cx="64008" cy="1572768"/>
          </a:xfrm>
          <a:prstGeom prst="rect">
            <a:avLst/>
          </a:prstGeom>
          <a:solidFill>
            <a:srgbClr val="0E9AA8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3392424"/>
            <a:ext cx="51206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7E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指令解码 + 写入者回溯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ipBase 正扫，定位最后写故障槽的指令并解析 callee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 opcode 验证操作数偏移，禁止按指令族猜测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309360" y="3264408"/>
            <a:ext cx="54864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3264408"/>
            <a:ext cx="64008" cy="1572768"/>
          </a:xfrm>
          <a:prstGeom prst="rect">
            <a:avLst/>
          </a:prstGeom>
          <a:solidFill>
            <a:srgbClr val="0E9AA8"/>
          </a:solidFill>
          <a:ln/>
        </p:spPr>
      </p:sp>
      <p:sp>
        <p:nvSpPr>
          <p:cNvPr id="17" name="Text 15"/>
          <p:cNvSpPr/>
          <p:nvPr/>
        </p:nvSpPr>
        <p:spPr>
          <a:xfrm>
            <a:off x="6510528" y="3392424"/>
            <a:ext cx="51206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7E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探针矩阵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get_fields / field_has_attribute / class_from_name / AllocProbe / gchandle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TrackedEW：跨时间跟踪托管对象必须 gchandle 保活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5074920"/>
            <a:ext cx="11292840" cy="1234440"/>
          </a:xfrm>
          <a:prstGeom prst="rect">
            <a:avLst/>
          </a:prstGeom>
          <a:solidFill>
            <a:srgbClr val="16233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5230368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E88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血泪教训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诊断代码在 VM 启动期做类解析会直接崩溃；catch 块里 frame / imi / ip 在帧切换中间态可能互不匹配；通用指令挂钩绝不能盲读 obj-&gt;klass（可能是 byref），必须用 imi-&gt;method 做过滤前置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233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E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坑 4 / 根因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根因实锤：MonoManager 的 image 缓存不刷新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7498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371600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重载新建 Il2CppImage   </a:t>
            </a:r>
            <a:pPr indent="0" marL="0">
              <a:buNone/>
            </a:pPr>
            <a:r>
              <a:rPr lang="en-US" sz="1150" dirty="0">
                <a:solidFill>
                  <a:srgbClr val="63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复用类 klass-&gt;image = 新指针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0" y="2130552"/>
            <a:ext cx="201168" cy="219456"/>
          </a:xfrm>
          <a:prstGeom prst="downArrow">
            <a:avLst/>
          </a:prstGeom>
          <a:solidFill>
            <a:srgbClr val="0E9AA8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2359152"/>
            <a:ext cx="74980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2359152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MonoManager 不刷新   </a:t>
            </a:r>
            <a:pPr indent="0" marL="0">
              <a:buNone/>
            </a:pPr>
            <a:r>
              <a:rPr lang="en-US" sz="1150" dirty="0">
                <a:solidFill>
                  <a:srgbClr val="63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m_ScriptImages 启动时经 il2cpp_domain_assembly_open 按指针注册一次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14800" y="3118104"/>
            <a:ext cx="201168" cy="219456"/>
          </a:xfrm>
          <a:prstGeom prst="downArrow">
            <a:avLst/>
          </a:prstGeom>
          <a:solidFill>
            <a:srgbClr val="0E9AA8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3346704"/>
            <a:ext cx="7498080" cy="749808"/>
          </a:xfrm>
          <a:prstGeom prst="rect">
            <a:avLst/>
          </a:prstGeom>
          <a:solidFill>
            <a:srgbClr val="FBEEE0"/>
          </a:solidFill>
          <a:ln w="12700">
            <a:solidFill>
              <a:srgbClr val="E8873A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346704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GetAssemblyIndexFromImage = -1   </a:t>
            </a:r>
            <a:pPr indent="0" marL="0">
              <a:buNone/>
            </a:pPr>
            <a:r>
              <a:rPr lang="en-US" sz="1150" dirty="0">
                <a:solidFill>
                  <a:srgbClr val="63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按指针查不到新 image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0" y="4105656"/>
            <a:ext cx="201168" cy="219456"/>
          </a:xfrm>
          <a:prstGeom prst="downArrow">
            <a:avLst/>
          </a:prstGeom>
          <a:solidFill>
            <a:srgbClr val="0E9AA8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" y="4334256"/>
            <a:ext cx="7498080" cy="749808"/>
          </a:xfrm>
          <a:prstGeom prst="rect">
            <a:avLst/>
          </a:prstGeom>
          <a:solidFill>
            <a:srgbClr val="FBEEE0"/>
          </a:solidFill>
          <a:ln w="12700">
            <a:solidFill>
              <a:srgbClr val="E8873A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" y="4334256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CanTransferTypeAsNestedObject = false   </a:t>
            </a:r>
            <a:pPr indent="0" marL="0">
              <a:buNone/>
            </a:pPr>
            <a:r>
              <a:rPr lang="en-US" sz="1150" dirty="0">
                <a:solidFill>
                  <a:srgbClr val="63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嵌套 managed 对象字段被序列化指令静默剔除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0" y="5093208"/>
            <a:ext cx="201168" cy="219456"/>
          </a:xfrm>
          <a:prstGeom prst="downArrow">
            <a:avLst/>
          </a:prstGeom>
          <a:solidFill>
            <a:srgbClr val="0E9AA8"/>
          </a:solidFill>
          <a:ln/>
        </p:spPr>
      </p:sp>
      <p:sp>
        <p:nvSpPr>
          <p:cNvPr id="18" name="Shape 16"/>
          <p:cNvSpPr/>
          <p:nvPr/>
        </p:nvSpPr>
        <p:spPr>
          <a:xfrm>
            <a:off x="502920" y="5321808"/>
            <a:ext cx="7498080" cy="749808"/>
          </a:xfrm>
          <a:prstGeom prst="rect">
            <a:avLst/>
          </a:prstGeom>
          <a:solidFill>
            <a:srgbClr val="FBEEE0"/>
          </a:solidFill>
          <a:ln w="12700">
            <a:solidFill>
              <a:srgbClr val="E8873A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" y="5321808"/>
            <a:ext cx="7132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prefab 反序列化跳过字段   </a:t>
            </a:r>
            <a:pPr indent="0" marL="0">
              <a:buNone/>
            </a:pPr>
            <a:r>
              <a:rPr lang="en-US" sz="1150" dirty="0">
                <a:solidFill>
                  <a:srgbClr val="63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s_currVariable = null → Bind(null) → NRE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321040" y="1371600"/>
            <a:ext cx="34747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21040" y="1371600"/>
            <a:ext cx="64008" cy="4846320"/>
          </a:xfrm>
          <a:prstGeom prst="rect">
            <a:avLst/>
          </a:prstGeom>
          <a:solidFill>
            <a:srgbClr val="E8873A"/>
          </a:solidFill>
          <a:ln/>
        </p:spPr>
      </p:sp>
      <p:sp>
        <p:nvSpPr>
          <p:cNvPr id="22" name="Text 20"/>
          <p:cNvSpPr/>
          <p:nvPr/>
        </p:nvSpPr>
        <p:spPr>
          <a:xfrm>
            <a:off x="8549640" y="1517904"/>
            <a:ext cx="306324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8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决定性证据</a:t>
            </a:r>
            <a:endParaRPr lang="en-US" sz="15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ImageRegCheck：klass-&gt;image ≠ MonoManager 缓存（MATCH=0）</a:t>
            </a:r>
            <a:endParaRPr lang="en-US" sz="150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TrackedEW：资产实例与克隆实例的 s_currVariable 均为 null → 资产反序列化就没写</a:t>
            </a:r>
            <a:endParaRPr lang="en-US" sz="1500" dirty="0"/>
          </a:p>
          <a:p>
            <a:pPr marL="127000" indent="-127000"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不对称现象全解释：子组件指令重载前构建（旧 image 已注册）正常；窗口类指令重载后首次构建（新 image 未注册）失败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233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E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坑 4 / 修复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修复：image 指针复用 + token 延迟翻转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54864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371600"/>
            <a:ext cx="64008" cy="2377440"/>
          </a:xfrm>
          <a:prstGeom prst="rect">
            <a:avLst/>
          </a:prstGeom>
          <a:solidFill>
            <a:srgbClr val="0E9AA8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1499616"/>
            <a:ext cx="512064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7E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 1：复用旧程序集 / 旧 image 指针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重载路径 ass = oldAss; image2 = oldAss-&gt;image（镜像首载复用占位程序集的做法）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klass-&gt;image 恒等于 MonoManager 启动时注册的指针 → 检查通过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 free image2-&gt;name；不 free nameNoExt（raw 字符串堆内指针，free 会堆损坏）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09360" y="1371600"/>
            <a:ext cx="54864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09360" y="1371600"/>
            <a:ext cx="64008" cy="2377440"/>
          </a:xfrm>
          <a:prstGeom prst="rect">
            <a:avLst/>
          </a:prstGeom>
          <a:solidFill>
            <a:srgbClr val="0E9AA8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1499616"/>
            <a:ext cx="5120640" cy="2121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7E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 2（关键配套）：token 延迟翻转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BuildIl2CppImage 不再设 image2-&gt;token（保留旧索引）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收集完成后、InitRuntimeMetadatas 之前才翻转为新索引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收集阶段 GetImage 路由到旧 image，收集完路由到新 image —— 太早翻转会导致收集错 image 直接崩溃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4069080"/>
            <a:ext cx="11292840" cy="1051560"/>
          </a:xfrm>
          <a:prstGeom prst="rect">
            <a:avLst/>
          </a:prstGeom>
          <a:solidFill>
            <a:srgbClr val="E4F4F1"/>
          </a:solidFill>
          <a:ln w="12700">
            <a:solidFill>
              <a:srgbClr val="0E9A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4224528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7E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✔ 验证通过（08-24）</a:t>
            </a:r>
            <a:endParaRPr lang="en-US" sz="1400" dirty="0"/>
          </a:p>
          <a:p>
            <a:pPr indent="0" marL="0">
              <a:buNone/>
            </a:pPr>
            <a:r>
              <a:rPr lang="en-US" sz="12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不再崩溃 + NRE 消失 + Delegate 绑定正常；多代重载均成立（token 总是保持上一代索引直到收集完）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5349240"/>
            <a:ext cx="11292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插曲：第一次 image 复用曾导致启动崩溃并回退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63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泛型还原的「双 image 归一化」设计建立在「新旧 image 是不同指针」之上；复用后新旧同指针 → 归一化失效 → typeMetadataHandle 越界。token 延迟翻转正是为兼容这套设计。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233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E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方案评估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方案权衡：为什么不用 Adapter 替代复用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20700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提议：il2cpp API 出方向返回 Adapter 壳、入方向拆包，重载只换壳内 real 指针，从而抛弃复用。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54864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691640"/>
            <a:ext cx="64008" cy="2651760"/>
          </a:xfrm>
          <a:prstGeom prst="rect">
            <a:avLst/>
          </a:prstGeom>
          <a:solidFill>
            <a:srgbClr val="0E9AA8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" y="1819656"/>
            <a:ext cx="512064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7E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边界层本身可行（≈ 10–20%）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real ↔ adapter 双射表可覆盖 Unity 引擎边界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 指针稳定 = 已实施的 image 复用修复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Il2CppType 经 TypeAdapter→ClassAdapter→realKlass 间接链可保鲜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309360" y="1691640"/>
            <a:ext cx="54864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1691640"/>
            <a:ext cx="64008" cy="2651760"/>
          </a:xfrm>
          <a:prstGeom prst="rect">
            <a:avLst/>
          </a:prstGeom>
          <a:solidFill>
            <a:srgbClr val="E8873A"/>
          </a:solidFill>
          <a:ln/>
        </p:spPr>
      </p:sp>
      <p:sp>
        <p:nvSpPr>
          <p:cNvPr id="12" name="Text 10"/>
          <p:cNvSpPr/>
          <p:nvPr/>
        </p:nvSpPr>
        <p:spPr>
          <a:xfrm>
            <a:off x="6510528" y="1819656"/>
            <a:ext cx="5120640" cy="2395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8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三条内部边界包不住（≈ 80–90%）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obj-&gt;klass：GC / AOT / 解释器编译期偏移直解引用，放不了壳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托管反射句柄：RuntimeType.value 裸指针，icall 读写不经 API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泛型缓存 + AOT 游离 class_inst：typeHandle 裸指针 hash，枚举不全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4572000"/>
            <a:ext cx="11292840" cy="822960"/>
          </a:xfrm>
          <a:prstGeom prst="rect">
            <a:avLst/>
          </a:prstGeom>
          <a:solidFill>
            <a:srgbClr val="16233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68172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账本：删掉内部复用 → 三条内部边界全崩；保留复用 → Adapter 冗余。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减负方向是降低复用实现复杂度（swap bodies / 工程化沉淀不变式），而非绕开复用。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5577840"/>
            <a:ext cx="11292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3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佐证：Unity 侧 ScriptingTypePtr::operator== 穿透到 il2cpp 内容比较，叶子仍落 typeHandle 裸指针 ——「指针身份唯一」约束贯穿 Unity 层 / API 层 / 托管层。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233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E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换个思路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另一条路：热重载友好的架构设计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207008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与其在运行时底层硬扛指针复用，不如从架构上让「需要被 Unity 序列化的类型」根本不参与热更 —— 类似 Lua 集成的通用 LuaBehaviour 模式。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874520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" y="1874520"/>
            <a:ext cx="2743200" cy="475488"/>
          </a:xfrm>
          <a:prstGeom prst="rect">
            <a:avLst/>
          </a:prstGeom>
          <a:solidFill>
            <a:srgbClr val="0B7E89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" y="1874520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通用壳类型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30936" y="2478024"/>
            <a:ext cx="24871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固定的通用 MonoBehaviour / ScriptableObject，放在非热更程序集（AOT），永不重载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32404" y="2916936"/>
            <a:ext cx="164592" cy="201168"/>
          </a:xfrm>
          <a:prstGeom prst="rightArrow">
            <a:avLst/>
          </a:prstGeom>
          <a:solidFill>
            <a:srgbClr val="0E9AA8"/>
          </a:solidFill>
          <a:ln/>
        </p:spPr>
      </p:sp>
      <p:sp>
        <p:nvSpPr>
          <p:cNvPr id="12" name="Shape 10"/>
          <p:cNvSpPr/>
          <p:nvPr/>
        </p:nvSpPr>
        <p:spPr>
          <a:xfrm>
            <a:off x="3383280" y="1874520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1874520"/>
            <a:ext cx="2743200" cy="475488"/>
          </a:xfrm>
          <a:prstGeom prst="rect">
            <a:avLst/>
          </a:prstGeom>
          <a:solidFill>
            <a:srgbClr val="0B7E89"/>
          </a:solidFill>
          <a:ln/>
        </p:spPr>
      </p:sp>
      <p:sp>
        <p:nvSpPr>
          <p:cNvPr id="14" name="Text 12"/>
          <p:cNvSpPr/>
          <p:nvPr/>
        </p:nvSpPr>
        <p:spPr>
          <a:xfrm>
            <a:off x="3493008" y="1874520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序列化归它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511296" y="2478024"/>
            <a:ext cx="24871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 prefab / ScriptObject 的序列化与加载全由壳类型承担 —— Unity 缓存的指针永远稳定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12764" y="2916936"/>
            <a:ext cx="164592" cy="201168"/>
          </a:xfrm>
          <a:prstGeom prst="rightArrow">
            <a:avLst/>
          </a:prstGeom>
          <a:solidFill>
            <a:srgbClr val="0E9AA8"/>
          </a:solidFill>
          <a:ln/>
        </p:spPr>
      </p:sp>
      <p:sp>
        <p:nvSpPr>
          <p:cNvPr id="17" name="Shape 15"/>
          <p:cNvSpPr/>
          <p:nvPr/>
        </p:nvSpPr>
        <p:spPr>
          <a:xfrm>
            <a:off x="6263640" y="1874520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1874520"/>
            <a:ext cx="2743200" cy="475488"/>
          </a:xfrm>
          <a:prstGeom prst="rect">
            <a:avLst/>
          </a:prstGeom>
          <a:solidFill>
            <a:srgbClr val="20344F"/>
          </a:solidFill>
          <a:ln/>
        </p:spPr>
      </p:sp>
      <p:sp>
        <p:nvSpPr>
          <p:cNvPr id="19" name="Text 17"/>
          <p:cNvSpPr/>
          <p:nvPr/>
        </p:nvSpPr>
        <p:spPr>
          <a:xfrm>
            <a:off x="6373368" y="1874520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 转发逻辑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391656" y="2478024"/>
            <a:ext cx="24871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壳类型持有类型名 / 方法名，经标准 Assembly.GetType 从热更程序集解析真实类型，把生命周期回调转发过去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93124" y="2916936"/>
            <a:ext cx="164592" cy="201168"/>
          </a:xfrm>
          <a:prstGeom prst="rightArrow">
            <a:avLst/>
          </a:prstGeom>
          <a:solidFill>
            <a:srgbClr val="0E9AA8"/>
          </a:solidFill>
          <a:ln/>
        </p:spPr>
      </p:sp>
      <p:sp>
        <p:nvSpPr>
          <p:cNvPr id="22" name="Shape 20"/>
          <p:cNvSpPr/>
          <p:nvPr/>
        </p:nvSpPr>
        <p:spPr>
          <a:xfrm>
            <a:off x="9144000" y="1874520"/>
            <a:ext cx="27432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144000" y="1874520"/>
            <a:ext cx="2743200" cy="475488"/>
          </a:xfrm>
          <a:prstGeom prst="rect">
            <a:avLst/>
          </a:prstGeom>
          <a:solidFill>
            <a:srgbClr val="20344F"/>
          </a:solidFill>
          <a:ln/>
        </p:spPr>
      </p:sp>
      <p:sp>
        <p:nvSpPr>
          <p:cNvPr id="24" name="Text 22"/>
          <p:cNvSpPr/>
          <p:nvPr/>
        </p:nvSpPr>
        <p:spPr>
          <a:xfrm>
            <a:off x="9253728" y="1874520"/>
            <a:ext cx="25237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 热更侧瘦身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9272016" y="2478024"/>
            <a:ext cx="248716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热更程序集只剩纯逻辑类，不继承 MonoBehaviour —— 回到探索二的「二次加载」即可，无需复用 Il2CppClass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4434840"/>
            <a:ext cx="5486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02920" y="4434840"/>
            <a:ext cx="64008" cy="1828800"/>
          </a:xfrm>
          <a:prstGeom prst="rect">
            <a:avLst/>
          </a:prstGeom>
          <a:solidFill>
            <a:srgbClr val="0E9AA8"/>
          </a:solidFill>
          <a:ln/>
        </p:spPr>
      </p:sp>
      <p:sp>
        <p:nvSpPr>
          <p:cNvPr id="28" name="Text 26"/>
          <p:cNvSpPr/>
          <p:nvPr/>
        </p:nvSpPr>
        <p:spPr>
          <a:xfrm>
            <a:off x="704088" y="4562856"/>
            <a:ext cx="51206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7E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避开复用全套复杂度：无需 Pass 1-3 / rehash / 指针修补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改写代码量很少，业务侧只加一层壳类型转发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不碰 libil2cpp 内部结构，Unity 版本升级几乎零成本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6309360" y="4434840"/>
            <a:ext cx="5486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09360" y="4434840"/>
            <a:ext cx="64008" cy="1828800"/>
          </a:xfrm>
          <a:prstGeom prst="rect">
            <a:avLst/>
          </a:prstGeom>
          <a:solidFill>
            <a:srgbClr val="E8873A"/>
          </a:solidFill>
          <a:ln/>
        </p:spPr>
      </p:sp>
      <p:sp>
        <p:nvSpPr>
          <p:cNvPr id="31" name="Text 29"/>
          <p:cNvSpPr/>
          <p:nvPr/>
        </p:nvSpPr>
        <p:spPr>
          <a:xfrm>
            <a:off x="6510528" y="4562856"/>
            <a:ext cx="512064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87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代价与前提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Inspector 可视化 / 序列化字段定义移到壳类型，热更侧字段改动需同步壳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每次回调多一跳转发 + GetType 解析（可缓存）</a:t>
            </a:r>
            <a:endParaRPr lang="en-US" sz="1500" dirty="0"/>
          </a:p>
          <a:p>
            <a:pPr marL="127000" indent="-1270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适合新项目或愿意改造工作流；存量项目迁移成本高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233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E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如何使用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工程使用方法：三步接入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6118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463040"/>
            <a:ext cx="3611880" cy="530352"/>
          </a:xfrm>
          <a:prstGeom prst="rect">
            <a:avLst/>
          </a:prstGeom>
          <a:solidFill>
            <a:srgbClr val="0B7E8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463040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1   Install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67512" y="2121408"/>
            <a:ext cx="328269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6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Unity 编辑器中使用正常的 HybridCLR 菜单执行 Install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63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HybridCLR/Installer 菜单安装后，会在项目下生成改造过的 il2cpp 库目录：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63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HybridCLRData\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63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LocalIl2CppData-{Runtime}\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142232" y="2999232"/>
            <a:ext cx="182880" cy="219456"/>
          </a:xfrm>
          <a:prstGeom prst="rightArrow">
            <a:avLst/>
          </a:prstGeom>
          <a:solidFill>
            <a:srgbClr val="0E9AA8"/>
          </a:solidFill>
          <a:ln/>
        </p:spPr>
      </p:sp>
      <p:sp>
        <p:nvSpPr>
          <p:cNvPr id="11" name="Shape 9"/>
          <p:cNvSpPr/>
          <p:nvPr/>
        </p:nvSpPr>
        <p:spPr>
          <a:xfrm>
            <a:off x="4343400" y="1463040"/>
            <a:ext cx="36118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43400" y="1463040"/>
            <a:ext cx="3611880" cy="530352"/>
          </a:xfrm>
          <a:prstGeom prst="rect">
            <a:avLst/>
          </a:prstGeom>
          <a:solidFill>
            <a:srgbClr val="20344F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1463040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2   替换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507992" y="2121408"/>
            <a:ext cx="328269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6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把该目录下的 il2cpp 库内容替换成本 git 库内容即可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63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本仓库 = HybridCLR 官方 libil2cpp + 热重载改造（指针复用 / 二次加载 / vtable 混合布局）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63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替换后重新构建 GameAssembly 生效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982712" y="2999232"/>
            <a:ext cx="182880" cy="219456"/>
          </a:xfrm>
          <a:prstGeom prst="rightArrow">
            <a:avLst/>
          </a:prstGeom>
          <a:solidFill>
            <a:srgbClr val="0E9AA8"/>
          </a:solidFill>
          <a:ln/>
        </p:spPr>
      </p:sp>
      <p:sp>
        <p:nvSpPr>
          <p:cNvPr id="16" name="Shape 14"/>
          <p:cNvSpPr/>
          <p:nvPr/>
        </p:nvSpPr>
        <p:spPr>
          <a:xfrm>
            <a:off x="8183880" y="1463040"/>
            <a:ext cx="36118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83880" y="1463040"/>
            <a:ext cx="3611880" cy="530352"/>
          </a:xfrm>
          <a:prstGeom prst="rect">
            <a:avLst/>
          </a:prstGeom>
          <a:solidFill>
            <a:srgbClr val="0B7E89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1463040"/>
            <a:ext cx="3337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3   使用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348472" y="2121408"/>
            <a:ext cx="328269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50" b="1" dirty="0">
                <a:solidFill>
                  <a:srgbClr val="16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业务侧照常走 HybridCLR 热更流程加载 DLL</a:t>
            </a:r>
            <a:endParaRPr lang="en-US" sz="1250" dirty="0"/>
          </a:p>
          <a:p>
            <a:pPr indent="0" marL="0">
              <a:buNone/>
            </a:pPr>
            <a:r>
              <a:rPr lang="en-US" sz="1100" dirty="0">
                <a:solidFill>
                  <a:srgbClr val="63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同一程序集二次加载即触发热重载路径：复用旧类 / 旧方法指针，原地接上新元数据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5074920"/>
            <a:ext cx="11292840" cy="1188720"/>
          </a:xfrm>
          <a:prstGeom prst="rect">
            <a:avLst/>
          </a:prstGeom>
          <a:solidFill>
            <a:srgbClr val="16233B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230368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E9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为什么这么简单？</a:t>
            </a:r>
            <a:endParaRPr lang="en-US" sz="135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全部改造都在 libil2cpp 层完成 —— 对 Unity 引擎与 HybridCLR 上层完全透明，不依赖任何 Unity 版本特定补丁；升级 Unity 时只需对新版 LocalIl2CppData 重新做一次替换。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6233B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29260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B7E8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56692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经验总结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75720" y="641908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54864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67512" y="1536192"/>
            <a:ext cx="475488" cy="475488"/>
          </a:xfrm>
          <a:prstGeom prst="ellipse">
            <a:avLst/>
          </a:prstGeom>
          <a:solidFill>
            <a:srgbClr val="0E9AA8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" y="15361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07592" y="1499616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指针即身份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3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Unity 层 / API 层 / 托管层三层一致约束，只有复用能同时满足；同型两指针必然身份分裂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309360" y="1371600"/>
            <a:ext cx="54864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73952" y="1536192"/>
            <a:ext cx="475488" cy="475488"/>
          </a:xfrm>
          <a:prstGeom prst="ellipse">
            <a:avLst/>
          </a:prstGeom>
          <a:solidFill>
            <a:srgbClr val="0E9AA8"/>
          </a:solidFill>
          <a:ln/>
        </p:spPr>
      </p:sp>
      <p:sp>
        <p:nvSpPr>
          <p:cNvPr id="12" name="Text 10"/>
          <p:cNvSpPr/>
          <p:nvPr/>
        </p:nvSpPr>
        <p:spPr>
          <a:xfrm>
            <a:off x="6473952" y="15361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114032" y="1499616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缓存即雷区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3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凡按裸指针 hash / 键控的缓存（泛型实例、TypeMap、MethodMap），重载后必须 rehash 或失效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2999232"/>
            <a:ext cx="54864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67512" y="3163824"/>
            <a:ext cx="475488" cy="475488"/>
          </a:xfrm>
          <a:prstGeom prst="ellipse">
            <a:avLst/>
          </a:prstGeom>
          <a:solidFill>
            <a:srgbClr val="0E9AA8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" y="31638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07592" y="3127248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懒惰重建门各不相同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3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methods / properties / events 按指针门；fields 按 size_inited 标志门 —— 置 NULL 必须连标志清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9360" y="2999232"/>
            <a:ext cx="54864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73952" y="3163824"/>
            <a:ext cx="475488" cy="475488"/>
          </a:xfrm>
          <a:prstGeom prst="ellipse">
            <a:avLst/>
          </a:prstGeom>
          <a:solidFill>
            <a:srgbClr val="20344F"/>
          </a:solidFill>
          <a:ln/>
        </p:spPr>
      </p:sp>
      <p:sp>
        <p:nvSpPr>
          <p:cNvPr id="20" name="Text 18"/>
          <p:cNvSpPr/>
          <p:nvPr/>
        </p:nvSpPr>
        <p:spPr>
          <a:xfrm>
            <a:off x="6473952" y="31638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114032" y="3127248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修复代码三重安全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3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重载后启用的代码必须：启动期安全 + 递归安全 + restore Pass 期间静默（守卫计数器）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4626864"/>
            <a:ext cx="54864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67512" y="4791456"/>
            <a:ext cx="475488" cy="475488"/>
          </a:xfrm>
          <a:prstGeom prst="ellipse">
            <a:avLst/>
          </a:prstGeom>
          <a:solidFill>
            <a:srgbClr val="20344F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" y="47914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07592" y="4754880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诊断先行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3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双写日志 + 重入保护 + 逐 opcode 验证；让 bug 自己说话，比读代码猜根因快一个数量级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309360" y="4626864"/>
            <a:ext cx="54864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  <a:prstDash val="solid"/>
          </a:ln>
          <a:effectLst>
            <a:outerShdw sx="100000" sy="100000" kx="0" ky="0" algn="bl" rotWithShape="0" blurRad="101600" dist="25400" dir="5400000">
              <a:srgbClr val="16233B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73952" y="4791456"/>
            <a:ext cx="475488" cy="475488"/>
          </a:xfrm>
          <a:prstGeom prst="ellipse">
            <a:avLst/>
          </a:prstGeom>
          <a:solidFill>
            <a:srgbClr val="20344F"/>
          </a:solidFill>
          <a:ln/>
        </p:spPr>
      </p:sp>
      <p:sp>
        <p:nvSpPr>
          <p:cNvPr id="28" name="Text 26"/>
          <p:cNvSpPr/>
          <p:nvPr/>
        </p:nvSpPr>
        <p:spPr>
          <a:xfrm>
            <a:off x="6473952" y="47914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14032" y="4754880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跨平台纪律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63748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 C++ 单一路径（std::gmtime 等），禁止仅 Windows 的功能分支，仅允许告警抑制 pragma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6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3B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2377440"/>
            <a:ext cx="128016" cy="1554480"/>
          </a:xfrm>
          <a:prstGeom prst="rect">
            <a:avLst/>
          </a:prstGeom>
          <a:solidFill>
            <a:srgbClr val="0E9AA8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23317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热重载的复杂度，是在为运行时内部一致性付账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143000" y="3154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3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复用不是目的，让三层指针身份唯一才是。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4206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9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&amp; A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HybridCLR 程序集热重载方案分享</dc:title>
  <dc:subject>PptxGenJS Presentation</dc:subject>
  <dc:creator>dev-reload</dc:creator>
  <cp:lastModifiedBy>dev-reload</cp:lastModifiedBy>
  <cp:revision>1</cp:revision>
  <dcterms:created xsi:type="dcterms:W3CDTF">2026-08-26T06:13:49Z</dcterms:created>
  <dcterms:modified xsi:type="dcterms:W3CDTF">2026-08-26T06:13:49Z</dcterms:modified>
</cp:coreProperties>
</file>